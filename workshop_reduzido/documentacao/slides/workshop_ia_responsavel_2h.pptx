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Limiar único (0,50)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326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Taxa de seleção M</c:v>
                  </c:pt>
                  <c:pt idx="1">
                    <c:v>Taxa de seleção F</c:v>
                  </c:pt>
                  <c:pt idx="2">
                    <c:v>TPR M</c:v>
                  </c:pt>
                  <c:pt idx="3">
                    <c:v>TPR F</c:v>
                  </c:pt>
                  <c:pt idx="4">
                    <c:v>FPR M</c:v>
                  </c:pt>
                  <c:pt idx="5">
                    <c:v>FPR F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0.27</c:v>
                </c:pt>
                <c:pt idx="1">
                  <c:v>0.09</c:v>
                </c:pt>
                <c:pt idx="2">
                  <c:v>0.63</c:v>
                </c:pt>
                <c:pt idx="3">
                  <c:v>0.52</c:v>
                </c:pt>
                <c:pt idx="4">
                  <c:v>0.1</c:v>
                </c:pt>
                <c:pt idx="5">
                  <c:v>0.03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Limiares por grupo</c:v>
                </c:pt>
              </c:strCache>
            </c:strRef>
          </c:tx>
          <c:spPr>
            <a:solidFill>
              <a:srgbClr val="E4565C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326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Taxa de seleção M</c:v>
                  </c:pt>
                  <c:pt idx="1">
                    <c:v>Taxa de seleção F</c:v>
                  </c:pt>
                  <c:pt idx="2">
                    <c:v>TPR M</c:v>
                  </c:pt>
                  <c:pt idx="3">
                    <c:v>TPR F</c:v>
                  </c:pt>
                  <c:pt idx="4">
                    <c:v>FPR M</c:v>
                  </c:pt>
                  <c:pt idx="5">
                    <c:v>FPR F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0.17</c:v>
                </c:pt>
                <c:pt idx="1">
                  <c:v>0.16</c:v>
                </c:pt>
                <c:pt idx="2">
                  <c:v>0.46</c:v>
                </c:pt>
                <c:pt idx="3">
                  <c:v>0.74</c:v>
                </c:pt>
                <c:pt idx="4">
                  <c:v>0.04</c:v>
                </c:pt>
                <c:pt idx="5">
                  <c:v>0.08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850" u="none">
                  <a:solidFill>
                    <a:srgbClr val="2326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326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l"/>
        <c:majorGridlines>
          <c:spPr>
            <a:ln w="12700" cap="flat">
              <a:solidFill>
                <a:srgbClr val="E3E7F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Ao chegar: grupos abrem o notebook (workshop_reduzido/workshop_ia_responsavel_reduzido.ipynb — download ou Colab) e executam JÁ as duas primeiras células (bibliotecas + infraestrutura). Mensagem-chave: o objetivo não é programar modelos, é desenvolver julgamento crítico.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A Parte 3 (fairness) é o coração do encontro: 50 minutos protegidos. Se o tempo apertar, corte da Parte 1, nunca da Parte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Pergunta rápida: onde estava o erro, no código ou nos dados? Resposta: nas DECISÕES. O COMPAS volta na Parte 3 (é um dos casos do workshop).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Passar rápido: o mapa serve só para situar. Explicabilidade aparece de leve na lente 4 (importância das variáveis).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min, logo antes da célula de treino (notebook 1.2). Estas duas ideias sustentam todo o resto do encontro.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Ligar com o notebook: Decisão 1 = caso + modelo; Decisão 2 = usar ou não o atributo sensível; Decisão 3 = limiares; Decisão 4 = posição no dilema. A limpeza de dados é automática hoje (só afeta o caso adult), mas vale citar.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Sortear os casos entre os 5 grupos. NÃO revelar os atributos sensíveis. Notebook 1.1 e 1.2 em seguida (~10 min de mão na massa). Padrão do notebook: regressão logística, rápida e com bons resultados em todos os casos.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min, durante a leitura do resultado do treino (Tarefa 1). Cada grupo traduz FP e FN para o seu caso em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~15 min no total. Entregar os atributos por grupo, em papel ou de viva voz (NUNCA projetar): adult → sexo · compas → raca · german → faixa_etaria · law → raca · student → zona. Circular durante a hipótese sem confirmar nem negar palpites.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1–2 min, só como vocabulário. Cada caso tem um tipo predominante (revelado no painel final). Não decorar a taxonomia.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Notebook 3.1 + Tarefa 2 (~8 min). Provocação: se a taxa real de alvo=1 difere entre grupos, reproduzi-la é viés ou é retratar a realidade? Não responder: a Parte 3 inteira é essa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ANTES do notebook 3.2 (~8 min no total). Checagem: “TPR de 60% para mulheres e 85% para homens no adult significa o quê, em português?”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Notebook 3.3 (~6 min). Ponto sutil para compas e student: quando o “sim” é um rótulo (de risco), a leitura inverte. No compas, taxa de seleção alta = grupo mais penalizado. O notebook avisa.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Notebook 3.4 + Tarefa 3 (~8 min). Destaques com os dados reais: no law, a disparidade quase não muda sem a raça (LSAT e GPA são proxies). No german, o detector acerta 100%, porque a coluna idade continua lá e a faixa etária é derivada dela: o proxy perfeito.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Bibliotecas que implementam as três: Fairlearn (Microsoft) e AIF360 (IBM).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Prepara o notebook 3.5 + Decisão 3 (~15 min, o coração do encontro). Cada grupo tenta igualar a taxa de seleção, depois o TPR, e documenta o que quebrou. Números do caso adult com regressão logística (padrão do notebook); os dos grupos serão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min, DEPOIS de os grupos suarem com os limiares: a frustração deles é o teorema. Intuição: com taxas-base diferentes, igualar FPR e TPR força escores com significados diferentes por grupo, e isso quebra a calibração.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O grupo do compas deve conectar isto ao próprio dilema. Pergunta à turma: quem deveria escolher a métrica de um sistema desses? O fornecedor? O tribunal? O legislador?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~10 min. Circular provocando: “quem perde com a opção de vocês?”. Ao fim, todos rodam o painel final (Parte 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~13 min para 5 grupos (2,5 min cada, com transições curtas). Deixar este slide projetado durante as apresentações. Cronômetro visível.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1–2 min. Mensagem: comunicar riscos com números, nomeando quem ganha e quem perde, é uma habilidade profissional (e, cada vez mais, uma exigência legal).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 min. Fechar conectando com os objetivos: origem dos vieses, decisões nunca neutras, métricas ↔ teoria, trade-offs inevitáveis, comunicação crítica.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1005840"/>
            <a:ext cx="2103120" cy="2103120"/>
          </a:xfrm>
          <a:prstGeom prst="ellipse">
            <a:avLst/>
          </a:prstGeom>
          <a:solidFill>
            <a:srgbClr val="2E3A7A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2468880"/>
            <a:ext cx="1325880" cy="1325880"/>
          </a:xfrm>
          <a:prstGeom prst="ellipse">
            <a:avLst/>
          </a:prstGeom>
          <a:solidFill>
            <a:srgbClr val="E4565C"/>
          </a:solidFill>
          <a:ln/>
        </p:spPr>
      </p:sp>
      <p:sp>
        <p:nvSpPr>
          <p:cNvPr id="4" name="Shape 2"/>
          <p:cNvSpPr/>
          <p:nvPr/>
        </p:nvSpPr>
        <p:spPr>
          <a:xfrm>
            <a:off x="8732520" y="310896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IA RESPONSÁVEL NA PRÁTICA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ÚNICO · 2 HORAS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Treinar, auditar, decidir: viés e fairness na prática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Vocês vão treinar um modelo com dados reais, encontrar a injustiça dentro dele e tentar consertá-la. No fim, vão descobrir que consertar é escolher.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Graduação em Ciência da Computação  ·  encontro único de 2h  ·  viés &amp; fairness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plano das próximas 2 horas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primeiro, teoria no momento exato em que ela é necessária.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81599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78308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0–10'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31720" y="1783080"/>
            <a:ext cx="9235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— </a:t>
            </a:r>
            <a:pPr indent="0" marL="0">
              <a:buNone/>
            </a:pPr>
            <a:r>
              <a:rPr lang="en-US" sz="13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 e o mapa da IA Responsável.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25786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565806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253288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10–25'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31720" y="2532888"/>
            <a:ext cx="9235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Treinar — </a:t>
            </a:r>
            <a:pPr indent="0" marL="0">
              <a:buNone/>
            </a:pPr>
            <a:r>
              <a:rPr lang="en-US" sz="13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o caso e o modelo, treinar e avaliar: direto ao ponto.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" y="33284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315614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3282696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25–40'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31720" y="3282696"/>
            <a:ext cx="9235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Onde pode ser injusto? — </a:t>
            </a:r>
            <a:pPr indent="0" marL="0">
              <a:buNone/>
            </a:pPr>
            <a:r>
              <a:rPr lang="en-US" sz="13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hipótese do grupo e, só depois, a revelação do atributo sensível.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4078224"/>
            <a:ext cx="384048" cy="384048"/>
          </a:xfrm>
          <a:prstGeom prst="ellipse">
            <a:avLst/>
          </a:prstGeom>
          <a:solidFill>
            <a:srgbClr val="E4565C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06542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4032504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40–90'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331720" y="4032504"/>
            <a:ext cx="9235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Auditoria de fairness — </a:t>
            </a:r>
            <a:pPr indent="0" marL="0">
              <a:buNone/>
            </a:pPr>
            <a:r>
              <a:rPr lang="en-US" sz="13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lentes, o conflito dos limiares e o teorema da impossibilidade.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48280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481523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43000" y="4782312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90–100'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331720" y="4782312"/>
            <a:ext cx="9235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· O dilema — </a:t>
            </a:r>
            <a:pPr indent="0" marL="0">
              <a:buNone/>
            </a:pPr>
            <a:r>
              <a:rPr lang="en-US" sz="13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caso tem o seu, e o grupo toma uma posição.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94360" y="55778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556503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43000" y="553212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100–120'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331720" y="5532120"/>
            <a:ext cx="9235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 · Apresentações — </a:t>
            </a:r>
            <a:pPr indent="0" marL="0">
              <a:buNone/>
            </a:pPr>
            <a:r>
              <a:rPr lang="en-US" sz="13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final, 2,5 min por grupo e a síntese.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isso importa? Três sistemas reais que falharam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desses times queria discriminar. Todos discriminaram.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2514600"/>
          </a:xfrm>
          <a:prstGeom prst="roundRect">
            <a:avLst>
              <a:gd name="adj" fmla="val 3273"/>
            </a:avLst>
          </a:prstGeom>
          <a:solidFill>
            <a:srgbClr val="EDF3F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75104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 (2016)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2359152"/>
            <a:ext cx="3209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Escore de reincidência usado por juízes nos EUA. A ProPublica mostrou: réus negros que NÃO reincidiram eram rotulados de “alto risco” quase 2× mais que réus brancos.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45720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456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≈2×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49808" y="527608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positivos para réus negros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70832" y="1828800"/>
            <a:ext cx="3611880" cy="2514600"/>
          </a:xfrm>
          <a:prstGeom prst="roundRect">
            <a:avLst>
              <a:gd name="adj" fmla="val 3273"/>
            </a:avLst>
          </a:prstGeom>
          <a:solidFill>
            <a:srgbClr val="EDF3F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975104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Recrutamento da Amazon (2018)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0" y="2359152"/>
            <a:ext cx="3209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IA de triagem de currículos aprendeu com 10 anos de contratações e passou a penalizar currículos com a palavra “women's”. Foi descontinuada.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0" y="45720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456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anos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0" y="527608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dados históricos enviesados usados como “gabarito”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93024" y="1828800"/>
            <a:ext cx="3611880" cy="2514600"/>
          </a:xfrm>
          <a:prstGeom prst="roundRect">
            <a:avLst>
              <a:gd name="adj" fmla="val 3273"/>
            </a:avLst>
          </a:prstGeom>
          <a:solidFill>
            <a:srgbClr val="EDF3FD"/>
          </a:solidFill>
          <a:ln/>
        </p:spPr>
      </p:sp>
      <p:sp>
        <p:nvSpPr>
          <p:cNvPr id="16" name="Text 14"/>
          <p:cNvSpPr/>
          <p:nvPr/>
        </p:nvSpPr>
        <p:spPr>
          <a:xfrm>
            <a:off x="8394192" y="1975104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nos EUA (Science, 2019)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394192" y="2359152"/>
            <a:ext cx="3209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algoritmo hospitalar usava o custo como proxy de necessidade. Pacientes negros, que geram menos custo por terem menos acesso, pareciam “mais saudáveis” do que estavam.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94192" y="45720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456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2,6×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394192" y="527608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pacientes negros no cuidado extra se o viés fosse corrigido (17,7% → 46,5%)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Responsável em um slide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pilares. Hoje mergulhamos em um: fairness.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115568" y="2103120"/>
            <a:ext cx="914400" cy="914400"/>
          </a:xfrm>
          <a:prstGeom prst="ellipse">
            <a:avLst/>
          </a:prstGeom>
          <a:solidFill>
            <a:srgbClr val="E4565C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 grupos e pessoas de forma equitativa?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01568" y="21031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401568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34640" y="32461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34640" y="37033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para entender por que decidiu?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87568" y="21031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687568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120640" y="32461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20640" y="37033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pessoais estão protegidos? (LGPD)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73568" y="21031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973568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406640" y="32461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06640" y="37033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sob ruído, ataque, mudança?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259568" y="21031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10259568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692640" y="32461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Prestação de contas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92640" y="37033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responde quando o sistema erra?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DECEC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1206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só fairness hoje? Porque em 2h dá para percorrer o ciclo completo: treinar → medir a injustiça → tentar consertar → descobrir o trade-off → decidir.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 modelo aprende, e por que isso gera viés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não sabe o que é justo. Ele sabe o que é frequente.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EDF3F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745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do passado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35808" y="20116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520440" y="1874520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EDF3FD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18745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estatísticos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07608" y="20116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92240" y="1874520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8745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Minimizar o ERRO MÉDIO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79408" y="20116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464040" y="1874520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EDF3FD"/>
          </a:solidFill>
          <a:ln/>
        </p:spPr>
      </p:sp>
      <p:sp>
        <p:nvSpPr>
          <p:cNvPr id="15" name="Text 13"/>
          <p:cNvSpPr/>
          <p:nvPr/>
        </p:nvSpPr>
        <p:spPr>
          <a:xfrm>
            <a:off x="9555480" y="18745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Previsões sobre pessoas novas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EDF3FD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300984"/>
            <a:ext cx="5038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 passado vira gabarito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49808" y="3685032"/>
            <a:ext cx="50383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os dados registram um mundo desigual (salários, prisões, notas), o padrão desigual é exatamente o que o modelo aprende a reproduzir.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72200" y="315468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FDECEC"/>
          </a:solidFill>
          <a:ln/>
        </p:spPr>
      </p:sp>
      <p:sp>
        <p:nvSpPr>
          <p:cNvPr id="20" name="Text 18"/>
          <p:cNvSpPr/>
          <p:nvPr/>
        </p:nvSpPr>
        <p:spPr>
          <a:xfrm>
            <a:off x="6373368" y="3300984"/>
            <a:ext cx="5038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 minoria é “barata” de ignorar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373368" y="3685032"/>
            <a:ext cx="50383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Errar tudo num grupo de 5% da base custa no máximo 5 pontos de acurácia. A média esconde, e desagregar revela (Parte 3).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modelo é uma cadeia de decisões humanas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Vocês vão tomar quatro delas no notebook.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691640" cy="2377440"/>
          </a:xfrm>
          <a:prstGeom prst="roundRect">
            <a:avLst>
              <a:gd name="adj" fmla="val 4865"/>
            </a:avLst>
          </a:prstGeom>
          <a:solidFill>
            <a:srgbClr val="EDF3FD"/>
          </a:solidFill>
          <a:ln/>
        </p:spPr>
      </p:sp>
      <p:sp>
        <p:nvSpPr>
          <p:cNvPr id="6" name="Shape 4"/>
          <p:cNvSpPr/>
          <p:nvPr/>
        </p:nvSpPr>
        <p:spPr>
          <a:xfrm>
            <a:off x="1197864" y="23317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197864" y="231891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entra na amostra?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23160" y="2148840"/>
            <a:ext cx="1691640" cy="2377440"/>
          </a:xfrm>
          <a:prstGeom prst="roundRect">
            <a:avLst>
              <a:gd name="adj" fmla="val 4865"/>
            </a:avLst>
          </a:prstGeom>
          <a:solidFill>
            <a:srgbClr val="EDF3FD"/>
          </a:solidFill>
          <a:ln/>
        </p:spPr>
      </p:sp>
      <p:sp>
        <p:nvSpPr>
          <p:cNvPr id="11" name="Shape 9"/>
          <p:cNvSpPr/>
          <p:nvPr/>
        </p:nvSpPr>
        <p:spPr>
          <a:xfrm>
            <a:off x="3072384" y="23317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072384" y="231891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14600" y="2880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Rotular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514600" y="352044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conta como “verdade”?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97680" y="2148840"/>
            <a:ext cx="1691640" cy="2377440"/>
          </a:xfrm>
          <a:prstGeom prst="roundRect">
            <a:avLst>
              <a:gd name="adj" fmla="val 4865"/>
            </a:avLst>
          </a:prstGeom>
          <a:solidFill>
            <a:srgbClr val="FDECEC"/>
          </a:solidFill>
          <a:ln/>
        </p:spPr>
      </p:sp>
      <p:sp>
        <p:nvSpPr>
          <p:cNvPr id="16" name="Shape 14"/>
          <p:cNvSpPr/>
          <p:nvPr/>
        </p:nvSpPr>
        <p:spPr>
          <a:xfrm>
            <a:off x="4946904" y="2331720"/>
            <a:ext cx="384048" cy="384048"/>
          </a:xfrm>
          <a:prstGeom prst="ellipse">
            <a:avLst/>
          </a:prstGeom>
          <a:solidFill>
            <a:srgbClr val="E4565C"/>
          </a:solidFill>
          <a:ln/>
        </p:spPr>
      </p:sp>
      <p:sp>
        <p:nvSpPr>
          <p:cNvPr id="17" name="Text 15"/>
          <p:cNvSpPr/>
          <p:nvPr/>
        </p:nvSpPr>
        <p:spPr>
          <a:xfrm>
            <a:off x="4946904" y="231891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89120" y="2880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variáveis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389120" y="352044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o atributo sensível?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2148840"/>
            <a:ext cx="1691640" cy="2377440"/>
          </a:xfrm>
          <a:prstGeom prst="roundRect">
            <a:avLst>
              <a:gd name="adj" fmla="val 4865"/>
            </a:avLst>
          </a:prstGeom>
          <a:solidFill>
            <a:srgbClr val="EDF3FD"/>
          </a:solidFill>
          <a:ln/>
        </p:spPr>
      </p:sp>
      <p:sp>
        <p:nvSpPr>
          <p:cNvPr id="21" name="Shape 19"/>
          <p:cNvSpPr/>
          <p:nvPr/>
        </p:nvSpPr>
        <p:spPr>
          <a:xfrm>
            <a:off x="6821424" y="23317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821424" y="231891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63640" y="2880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Limpar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263640" y="352044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Apagar linhas apaga pessoas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46720" y="2148840"/>
            <a:ext cx="1691640" cy="2377440"/>
          </a:xfrm>
          <a:prstGeom prst="roundRect">
            <a:avLst>
              <a:gd name="adj" fmla="val 4865"/>
            </a:avLst>
          </a:prstGeom>
          <a:solidFill>
            <a:srgbClr val="EDF3FD"/>
          </a:solidFill>
          <a:ln/>
        </p:spPr>
      </p:sp>
      <p:sp>
        <p:nvSpPr>
          <p:cNvPr id="26" name="Shape 24"/>
          <p:cNvSpPr/>
          <p:nvPr/>
        </p:nvSpPr>
        <p:spPr>
          <a:xfrm>
            <a:off x="8695944" y="23317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8695944" y="231891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138160" y="2880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138160" y="352044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Interpretável ou preciso?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921240" y="2148840"/>
            <a:ext cx="1691640" cy="2377440"/>
          </a:xfrm>
          <a:prstGeom prst="roundRect">
            <a:avLst>
              <a:gd name="adj" fmla="val 4865"/>
            </a:avLst>
          </a:prstGeom>
          <a:solidFill>
            <a:srgbClr val="FDECEC"/>
          </a:solidFill>
          <a:ln/>
        </p:spPr>
      </p:sp>
      <p:sp>
        <p:nvSpPr>
          <p:cNvPr id="31" name="Shape 29"/>
          <p:cNvSpPr/>
          <p:nvPr/>
        </p:nvSpPr>
        <p:spPr>
          <a:xfrm>
            <a:off x="10570464" y="2331720"/>
            <a:ext cx="384048" cy="384048"/>
          </a:xfrm>
          <a:prstGeom prst="ellipse">
            <a:avLst/>
          </a:prstGeom>
          <a:solidFill>
            <a:srgbClr val="E4565C"/>
          </a:solidFill>
          <a:ln/>
        </p:spPr>
      </p:sp>
      <p:sp>
        <p:nvSpPr>
          <p:cNvPr id="32" name="Text 30"/>
          <p:cNvSpPr/>
          <p:nvPr/>
        </p:nvSpPr>
        <p:spPr>
          <a:xfrm>
            <a:off x="10570464" y="231891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012680" y="2880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Cortar o limiar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0012680" y="352044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quando dizemos “sim”?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coral: as decisões que vocês tomam hoje com consequência direta para a justiça (Decisões 2 e 3 do notebook).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dessas escolhas é neutra. “Não decidir” = aceitar o padrão de alguém.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5 estudos de caso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reais e todos com viés embutido. Cada um tem um dilema diferente.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103120" cy="2743200"/>
          </a:xfrm>
          <a:prstGeom prst="roundRect">
            <a:avLst>
              <a:gd name="adj" fmla="val 3913"/>
            </a:avLst>
          </a:prstGeom>
          <a:solidFill>
            <a:srgbClr val="EDF3FD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adult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971800"/>
            <a:ext cx="181051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dos EUA (1994). Prevê quem ganha mais de 50 mil US$/ano.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16352" y="1828800"/>
            <a:ext cx="2103120" cy="2743200"/>
          </a:xfrm>
          <a:prstGeom prst="roundRect">
            <a:avLst>
              <a:gd name="adj" fmla="val 3913"/>
            </a:avLst>
          </a:prstGeom>
          <a:solidFill>
            <a:srgbClr val="EDF3FD"/>
          </a:solidFill>
          <a:ln/>
        </p:spPr>
      </p:sp>
      <p:sp>
        <p:nvSpPr>
          <p:cNvPr id="10" name="Text 8"/>
          <p:cNvSpPr/>
          <p:nvPr/>
        </p:nvSpPr>
        <p:spPr>
          <a:xfrm>
            <a:off x="2980944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Justiça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80944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80944" y="2971800"/>
            <a:ext cx="181051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Flórida, EUA. Prevê reincidência em 2 anos. Aqui, o “sim” PREJUDICA.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84064" y="1828800"/>
            <a:ext cx="2103120" cy="2743200"/>
          </a:xfrm>
          <a:prstGeom prst="roundRect">
            <a:avLst>
              <a:gd name="adj" fmla="val 3913"/>
            </a:avLst>
          </a:prstGeom>
          <a:solidFill>
            <a:srgbClr val="EDF3FD"/>
          </a:solidFill>
          <a:ln/>
        </p:spPr>
      </p:sp>
      <p:sp>
        <p:nvSpPr>
          <p:cNvPr id="14" name="Text 12"/>
          <p:cNvSpPr/>
          <p:nvPr/>
        </p:nvSpPr>
        <p:spPr>
          <a:xfrm>
            <a:off x="5248656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48656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german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48656" y="2971800"/>
            <a:ext cx="181051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alemão. Prevê quem é bom pagador. Erros com custos assimétricos.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51776" y="1828800"/>
            <a:ext cx="2103120" cy="2743200"/>
          </a:xfrm>
          <a:prstGeom prst="roundRect">
            <a:avLst>
              <a:gd name="adj" fmla="val 3913"/>
            </a:avLst>
          </a:prstGeom>
          <a:solidFill>
            <a:srgbClr val="EDF3FD"/>
          </a:solidFill>
          <a:ln/>
        </p:spPr>
      </p:sp>
      <p:sp>
        <p:nvSpPr>
          <p:cNvPr id="18" name="Text 16"/>
          <p:cNvSpPr/>
          <p:nvPr/>
        </p:nvSpPr>
        <p:spPr>
          <a:xfrm>
            <a:off x="7516368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16368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516368" y="2971800"/>
            <a:ext cx="181051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Estudantes de Direito (EUA). Prevê aprovação no bar exam; usado em admissões.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19488" y="1828800"/>
            <a:ext cx="2103120" cy="2743200"/>
          </a:xfrm>
          <a:prstGeom prst="roundRect">
            <a:avLst>
              <a:gd name="adj" fmla="val 3913"/>
            </a:avLst>
          </a:prstGeom>
          <a:solidFill>
            <a:srgbClr val="EDF3FD"/>
          </a:solidFill>
          <a:ln/>
        </p:spPr>
      </p:sp>
      <p:sp>
        <p:nvSpPr>
          <p:cNvPr id="22" name="Text 20"/>
          <p:cNvSpPr/>
          <p:nvPr/>
        </p:nvSpPr>
        <p:spPr>
          <a:xfrm>
            <a:off x="9784080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78408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84080" y="2971800"/>
            <a:ext cx="181051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escolas de Portugal. Prevê risco de reprovação → reforço (e rótulo).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937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caso por grupo, sem repetição. O atributo sensível NÃO é revelado agora: vocês vão descobri-lo.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Avaliar é escolher: acurácia, FP e FN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“o modelo é bom?” esconde outra: “bom para quem?”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EDF3F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75104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engana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2359152"/>
            <a:ext cx="4992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 desbalanceado (ex.: 90% negativos)? Um modelo que chuta “não” para todo mundo já acerta 90%. Sempre compare com o chute da maioria.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FDECEC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4123944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erros não custam o mesmo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4507992"/>
            <a:ext cx="49926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 positivo: o sistema disse SIM e era NÃO.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 negativo: disse NÃO e era SIM.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crédito, o FP custa ao banco e o FN nega crédito a quem merecia. Na justiça, o FP pode prender um inocente.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7512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confusão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543800" y="2651760"/>
            <a:ext cx="2103120" cy="1417320"/>
          </a:xfrm>
          <a:prstGeom prst="roundRect">
            <a:avLst>
              <a:gd name="adj" fmla="val 4516"/>
            </a:avLst>
          </a:prstGeom>
          <a:solidFill>
            <a:srgbClr val="EDF3FD"/>
          </a:solidFill>
          <a:ln/>
        </p:spPr>
      </p:sp>
      <p:sp>
        <p:nvSpPr>
          <p:cNvPr id="13" name="Text 11"/>
          <p:cNvSpPr/>
          <p:nvPr/>
        </p:nvSpPr>
        <p:spPr>
          <a:xfrm>
            <a:off x="7543800" y="281635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543800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verdadeiro negativo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756648" y="2651760"/>
            <a:ext cx="2103120" cy="1417320"/>
          </a:xfrm>
          <a:prstGeom prst="roundRect">
            <a:avLst>
              <a:gd name="adj" fmla="val 4516"/>
            </a:avLst>
          </a:prstGeom>
          <a:solidFill>
            <a:srgbClr val="F6C6C9"/>
          </a:solidFill>
          <a:ln/>
        </p:spPr>
      </p:sp>
      <p:sp>
        <p:nvSpPr>
          <p:cNvPr id="16" name="Text 14"/>
          <p:cNvSpPr/>
          <p:nvPr/>
        </p:nvSpPr>
        <p:spPr>
          <a:xfrm>
            <a:off x="9756648" y="281635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E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756648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 positivo ⚠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43800" y="4178808"/>
            <a:ext cx="2103120" cy="1417320"/>
          </a:xfrm>
          <a:prstGeom prst="roundRect">
            <a:avLst>
              <a:gd name="adj" fmla="val 4516"/>
            </a:avLst>
          </a:prstGeom>
          <a:solidFill>
            <a:srgbClr val="F6C6C9"/>
          </a:solidFill>
          <a:ln/>
        </p:spPr>
      </p:sp>
      <p:sp>
        <p:nvSpPr>
          <p:cNvPr id="19" name="Text 17"/>
          <p:cNvSpPr/>
          <p:nvPr/>
        </p:nvSpPr>
        <p:spPr>
          <a:xfrm>
            <a:off x="7543800" y="4343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E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543800" y="49103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 negativo ⚠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756648" y="4178808"/>
            <a:ext cx="2103120" cy="1417320"/>
          </a:xfrm>
          <a:prstGeom prst="roundRect">
            <a:avLst>
              <a:gd name="adj" fmla="val 4516"/>
            </a:avLst>
          </a:prstGeom>
          <a:solidFill>
            <a:srgbClr val="EDF3FD"/>
          </a:solidFill>
          <a:ln/>
        </p:spPr>
      </p:sp>
      <p:sp>
        <p:nvSpPr>
          <p:cNvPr id="22" name="Text 20"/>
          <p:cNvSpPr/>
          <p:nvPr/>
        </p:nvSpPr>
        <p:spPr>
          <a:xfrm>
            <a:off x="9756648" y="4343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756648" y="49103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verdadeiro positivo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43800" y="22951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modelo disse 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91072" y="38862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era verdade ↓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este modelo pode ser injusto?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a hipótese de vocês. Só depois, a resposta.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3017520"/>
          </a:xfrm>
          <a:prstGeom prst="roundRect">
            <a:avLst>
              <a:gd name="adj" fmla="val 2727"/>
            </a:avLst>
          </a:prstGeom>
          <a:solidFill>
            <a:srgbClr val="EDF3F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933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 hipótese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404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2.1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9808" y="2834640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com as colunas, a matriz de confusão e o contexto: quem pode ser prejudicado? Que colunas são suspeitas? O grupo REGISTRA antes de ver a resposta.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33088" y="3017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70832" y="1828800"/>
            <a:ext cx="3611880" cy="3017520"/>
          </a:xfrm>
          <a:prstGeom prst="roundRect">
            <a:avLst>
              <a:gd name="adj" fmla="val 2727"/>
            </a:avLst>
          </a:prstGeom>
          <a:solidFill>
            <a:srgbClr val="EDF3F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9933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 revelação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404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2.2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0" y="2834640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instrutor entrega a cada grupo o ATRIBUTO SENSÍVEL do caso. Vocês preenchem no notebook e comparam com a hipótese: bateu?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955280" y="3017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193024" y="1828800"/>
            <a:ext cx="3611880" cy="3017520"/>
          </a:xfrm>
          <a:prstGeom prst="roundRect">
            <a:avLst>
              <a:gd name="adj" fmla="val 2727"/>
            </a:avLst>
          </a:prstGeom>
          <a:solidFill>
            <a:srgbClr val="EDF3FD"/>
          </a:solidFill>
          <a:ln/>
        </p:spPr>
      </p:sp>
      <p:sp>
        <p:nvSpPr>
          <p:cNvPr id="16" name="Text 14"/>
          <p:cNvSpPr/>
          <p:nvPr/>
        </p:nvSpPr>
        <p:spPr>
          <a:xfrm>
            <a:off x="8394192" y="19933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O experimento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94192" y="2404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2.3 · Decisão 2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94192" y="2834640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“Então é só remover a coluna!” Será? O notebook treina o modelo COM e SEM o atributo, e o grupo escolhe qual será o oficial.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1064240" cy="1188720"/>
          </a:xfrm>
          <a:prstGeom prst="roundRect">
            <a:avLst>
              <a:gd name="adj" fmla="val 6923"/>
            </a:avLst>
          </a:prstGeom>
          <a:solidFill>
            <a:srgbClr val="FDECEC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5221224"/>
            <a:ext cx="1066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costuma incomodar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49808" y="5605272"/>
            <a:ext cx="10661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acurácia quase não muda sem a coluna. Se ela “não fazia falta”, que outras variáveis carregam a mesma informação? A Parte 3 responde.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os vieses vêm: o catálogo de bolso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Vocabulário para a pergunta da apresentação: em que etapa o viés nasce?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1874520"/>
          </a:xfrm>
          <a:prstGeom prst="roundRect">
            <a:avLst>
              <a:gd name="adj" fmla="val 4390"/>
            </a:avLst>
          </a:prstGeom>
          <a:solidFill>
            <a:srgbClr val="EDF3F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Histórico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9808" y="25603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retratam fielmente um mundo injusto.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70832" y="1828800"/>
            <a:ext cx="3611880" cy="1874520"/>
          </a:xfrm>
          <a:prstGeom prst="roundRect">
            <a:avLst>
              <a:gd name="adj" fmla="val 4390"/>
            </a:avLst>
          </a:prstGeom>
          <a:solidFill>
            <a:srgbClr val="EDF3F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Representação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0" y="25603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grupo é pequeno na amostra, então o modelo erra mais nele.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93024" y="1828800"/>
            <a:ext cx="3611880" cy="1874520"/>
          </a:xfrm>
          <a:prstGeom prst="roundRect">
            <a:avLst>
              <a:gd name="adj" fmla="val 4390"/>
            </a:avLst>
          </a:prstGeom>
          <a:solidFill>
            <a:srgbClr val="EDF3FD"/>
          </a:solidFill>
          <a:ln/>
        </p:spPr>
      </p:sp>
      <p:sp>
        <p:nvSpPr>
          <p:cNvPr id="12" name="Text 10"/>
          <p:cNvSpPr/>
          <p:nvPr/>
        </p:nvSpPr>
        <p:spPr>
          <a:xfrm>
            <a:off x="8394192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Medição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94192" y="25603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rótulo não mede o que pensamos: “foi preso” ≠ “cometeu crime”.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3611880" cy="1874520"/>
          </a:xfrm>
          <a:prstGeom prst="roundRect">
            <a:avLst>
              <a:gd name="adj" fmla="val 4390"/>
            </a:avLst>
          </a:prstGeom>
          <a:solidFill>
            <a:srgbClr val="EDF3FD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4114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Proxy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49808" y="466344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Removemos a coluna, mas outras a “entregam” (CEP, escola, nota).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70832" y="3931920"/>
            <a:ext cx="3611880" cy="1874520"/>
          </a:xfrm>
          <a:prstGeom prst="roundRect">
            <a:avLst>
              <a:gd name="adj" fmla="val 4390"/>
            </a:avLst>
          </a:prstGeom>
          <a:solidFill>
            <a:srgbClr val="EDF3FD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4114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Agregação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0" y="466344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único para grupos com padrões diferentes.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93024" y="3931920"/>
            <a:ext cx="3611880" cy="1874520"/>
          </a:xfrm>
          <a:prstGeom prst="roundRect">
            <a:avLst>
              <a:gd name="adj" fmla="val 4390"/>
            </a:avLst>
          </a:prstGeom>
          <a:solidFill>
            <a:srgbClr val="EDF3FD"/>
          </a:solidFill>
          <a:ln/>
        </p:spPr>
      </p:sp>
      <p:sp>
        <p:nvSpPr>
          <p:cNvPr id="21" name="Text 19"/>
          <p:cNvSpPr/>
          <p:nvPr/>
        </p:nvSpPr>
        <p:spPr>
          <a:xfrm>
            <a:off x="8394192" y="4114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Implantação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94192" y="466344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fora do contexto em que foi treinado.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Lente 1 · Representação: quem está nos dados?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auditoria mais barata que existe: value_counts(). E uma das mais reveladoras.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EDF3F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75104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de amostragem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2359152"/>
            <a:ext cx="49926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raro nos dados → o modelo aprende pouco sobre ele → erra mais nele. E a métrica desse grupo fica estatisticamente instável: poucas amostras significam muita sorte ou azar.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DECEC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4261104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real: Gender Shades (2018)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4645152"/>
            <a:ext cx="49926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Buolamwini &amp; Gebru: o reconhecimento facial comercial errava 0,8% em homens de pele clara e até 34,7% em mulheres de pele escura, grupos quase ausentes dos dados de treino.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EDF3FD"/>
          </a:solidFill>
          <a:ln/>
        </p:spPr>
      </p:sp>
      <p:sp>
        <p:nvSpPr>
          <p:cNvPr id="12" name="Text 10"/>
          <p:cNvSpPr/>
          <p:nvPr/>
        </p:nvSpPr>
        <p:spPr>
          <a:xfrm>
            <a:off x="6373368" y="1975104"/>
            <a:ext cx="5038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representação ≠ suficiência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73368" y="2359152"/>
            <a:ext cx="50383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grupo bem representado ainda pode carregar rótulos historicamente enviesados. Contar é o começo da auditoria, não o fim.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411480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EAF4EE"/>
          </a:solidFill>
          <a:ln/>
        </p:spPr>
      </p:sp>
      <p:sp>
        <p:nvSpPr>
          <p:cNvPr id="15" name="Text 13"/>
          <p:cNvSpPr/>
          <p:nvPr/>
        </p:nvSpPr>
        <p:spPr>
          <a:xfrm>
            <a:off x="6373368" y="4261104"/>
            <a:ext cx="5038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notebook (3.1)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73368" y="4645152"/>
            <a:ext cx="50383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contagens por grupo: quantas pessoas, e que % tem alvo=1 nos DADOS. Se as taxas reais já diferem, é diferença legítima, herança histórica ou rótulo mal medido?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Lente 2 · O modelo erra igual para todos?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métricas de fairness mais usadas nascem de uma ideia simples: compare os ERROS, não só os acertos.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EDF3F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75104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TPR · taxa de verdadeiros positivos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2359152"/>
            <a:ext cx="49926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que SÃO alvo=1, quantos o modelo reconhece?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TPR igual entre grupos = IGUALDADE DE OPORTUNIDADE (equal opportunity): quem merece o “sim” tem a mesma chance de recebê-lo, em qualquer grupo.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29768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EDF3FD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4443984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 · taxa de falsos positivos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4828032"/>
            <a:ext cx="49926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que NÃO são alvo=1, quantos levam “sim” por engano?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TPR + FPR iguais = EQUALIZED ODDS (Hardt et al., 2016).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440680" cy="2286000"/>
          </a:xfrm>
          <a:prstGeom prst="roundRect">
            <a:avLst>
              <a:gd name="adj" fmla="val 3600"/>
            </a:avLst>
          </a:prstGeom>
          <a:solidFill>
            <a:srgbClr val="FDECEC"/>
          </a:solidFill>
          <a:ln/>
        </p:spPr>
      </p:sp>
      <p:sp>
        <p:nvSpPr>
          <p:cNvPr id="12" name="Text 10"/>
          <p:cNvSpPr/>
          <p:nvPr/>
        </p:nvSpPr>
        <p:spPr>
          <a:xfrm>
            <a:off x="6373368" y="1975104"/>
            <a:ext cx="5038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captura “justiça”?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73368" y="2359152"/>
            <a:ext cx="50383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erros têm consequências. Se o FPR do grupo A é 2× o do grupo B, os inocentes ou não qualificados do grupo A pagam o preço 2× mais vezes.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 exatamente essa a denúncia da ProPublica no COMPAS.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429768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EAF4EE"/>
          </a:solidFill>
          <a:ln/>
        </p:spPr>
      </p:sp>
      <p:sp>
        <p:nvSpPr>
          <p:cNvPr id="15" name="Text 13"/>
          <p:cNvSpPr/>
          <p:nvPr/>
        </p:nvSpPr>
        <p:spPr>
          <a:xfrm>
            <a:off x="6373368" y="4443984"/>
            <a:ext cx="5038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notebook (3.2)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73368" y="4828032"/>
            <a:ext cx="50383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acurácia, TPR, FPR e precisão por grupo, com gráfico. Anotem as diferenças: elas vão para o painel final.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Lente 3 · Taxa de seleção e a regra dos 80%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métrica que virou lei: que % de cada grupo recebe o “sim”?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EDF3F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75104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seleção &amp; paridade demográfica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2359152"/>
            <a:ext cx="49926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seleção = % do grupo com previsão POSITIVA.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Taxas iguais entre grupos = paridade demográfica, sem olhar quem “merecia”.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5394960" cy="2194560"/>
          </a:xfrm>
          <a:prstGeom prst="roundRect">
            <a:avLst>
              <a:gd name="adj" fmla="val 3750"/>
            </a:avLst>
          </a:prstGeom>
          <a:solidFill>
            <a:srgbClr val="EDF3FD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4078224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Disparate impact e a regra dos 80% (EEOC, 1978)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4462272"/>
            <a:ext cx="49926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= taxa menor ÷ taxa maior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razão &lt; 0,80 → indício legal de impacto desproporcional na legislação trabalhista dos EUA. É um LIMIAR PRAGMÁTICO, não uma definição de justiça.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taxa de seleção por grupo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40880" y="3182112"/>
            <a:ext cx="1371600" cy="2852928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0" y="27706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040880" y="6126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0" y="4893869"/>
            <a:ext cx="1371600" cy="1141171"/>
          </a:xfrm>
          <a:prstGeom prst="roundRect">
            <a:avLst>
              <a:gd name="adj" fmla="val 4006"/>
            </a:avLst>
          </a:prstGeom>
          <a:solidFill>
            <a:srgbClr val="E4565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0" y="4482389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456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24%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0" y="6126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6446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= 24 ÷ 60 = 0,40  →  ✗ bem abaixo de 0,80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Lente 4 · Proxies e a falácia de “cegar” o modelo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notebook compara sozinho o modelo COM × SEM a coluna sensível.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2194560"/>
          </a:xfrm>
          <a:prstGeom prst="roundRect">
            <a:avLst>
              <a:gd name="adj" fmla="val 3750"/>
            </a:avLst>
          </a:prstGeom>
          <a:solidFill>
            <a:srgbClr val="EDF3F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75104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through unawareness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2359152"/>
            <a:ext cx="49926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 eu tirar a coluna sexo/raça/idade, o modelo fica justo.”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porque outras variáveis carregam a mesma informação (codificação redundante): CEP ↔ raça, escola ↔ renda, nota do LSAT ↔ grupo racial...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DECEC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4352544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pior: sem a coluna, você não MEDE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4736592"/>
            <a:ext cx="49926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auditar a disparidade por grupo é preciso TER o atributo sensível. Apagá-lo não remove a discriminação: remove a capacidade de enxergá-la.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440680" cy="2194560"/>
          </a:xfrm>
          <a:prstGeom prst="roundRect">
            <a:avLst>
              <a:gd name="adj" fmla="val 3750"/>
            </a:avLst>
          </a:prstGeom>
          <a:solidFill>
            <a:srgbClr val="EAF4EE"/>
          </a:solidFill>
          <a:ln/>
        </p:spPr>
      </p:sp>
      <p:sp>
        <p:nvSpPr>
          <p:cNvPr id="12" name="Text 10"/>
          <p:cNvSpPr/>
          <p:nvPr/>
        </p:nvSpPr>
        <p:spPr>
          <a:xfrm>
            <a:off x="6373368" y="1975104"/>
            <a:ext cx="5038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notebook (3.4): três evidências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73368" y="2359152"/>
            <a:ext cx="50383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As variáveis em que o modelo se apoia.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Métricas por grupo COM × SEM o atributo, lado a lado.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Detector de proxies: as OUTRAS colunas adivinham o grupo?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420624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EDF3FD"/>
          </a:solidFill>
          <a:ln/>
        </p:spPr>
      </p:sp>
      <p:sp>
        <p:nvSpPr>
          <p:cNvPr id="15" name="Text 13"/>
          <p:cNvSpPr/>
          <p:nvPr/>
        </p:nvSpPr>
        <p:spPr>
          <a:xfrm>
            <a:off x="6373368" y="4352544"/>
            <a:ext cx="5038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ir além: explicabilidade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73368" y="4736592"/>
            <a:ext cx="50383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e SHAP explicam previsões individuais (“por que ESTA pessoa foi negada?”). Ótimo tema de pesquisa e de carreira.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dá para intervir: 3 famílias de mitigação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usar a 3ª agora, a mais simples de entender e auditar.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2926080"/>
          </a:xfrm>
          <a:prstGeom prst="roundRect">
            <a:avLst>
              <a:gd name="adj" fmla="val 2813"/>
            </a:avLst>
          </a:prstGeom>
          <a:solidFill>
            <a:srgbClr val="EDF3F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1031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49808" y="2971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DADOS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347472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Rebalancear, reponderar, tratar proxies.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70832" y="1920240"/>
            <a:ext cx="3611880" cy="2926080"/>
          </a:xfrm>
          <a:prstGeom prst="roundRect">
            <a:avLst>
              <a:gd name="adj" fmla="val 2813"/>
            </a:avLst>
          </a:prstGeom>
          <a:solidFill>
            <a:srgbClr val="EDF3F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1031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0" y="2971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TREINO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347472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Restrição de fairness na otimização.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93024" y="1920240"/>
            <a:ext cx="3611880" cy="2926080"/>
          </a:xfrm>
          <a:prstGeom prst="roundRect">
            <a:avLst>
              <a:gd name="adj" fmla="val 2813"/>
            </a:avLst>
          </a:prstGeom>
          <a:solidFill>
            <a:srgbClr val="EAF4EE"/>
          </a:solidFill>
          <a:ln/>
        </p:spPr>
      </p:sp>
      <p:sp>
        <p:nvSpPr>
          <p:cNvPr id="14" name="Text 12"/>
          <p:cNvSpPr/>
          <p:nvPr/>
        </p:nvSpPr>
        <p:spPr>
          <a:xfrm>
            <a:off x="8394192" y="21031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PÓS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394192" y="2971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PREVISÕES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94192" y="347472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Limiar diferente por grupo, o que faremos agora.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família elimina o problema de fundo: toda mitigação otimiza UMA definição de justiça, à custa de outra.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Consertar aqui, quebrar ali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reais do notebook (caso adult, regressão logística): igualamos a taxa de seleção... e vejam o resto.</a:t>
            </a:r>
            <a:endParaRPr lang="en-US" sz="14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828800"/>
            <a:ext cx="3840480" cy="2194560"/>
          </a:xfrm>
          <a:prstGeom prst="roundRect">
            <a:avLst>
              <a:gd name="adj" fmla="val 3750"/>
            </a:avLst>
          </a:prstGeom>
          <a:solidFill>
            <a:srgbClr val="EAF4EE"/>
          </a:solidFill>
          <a:ln/>
        </p:spPr>
      </p:sp>
      <p:sp>
        <p:nvSpPr>
          <p:cNvPr id="7" name="Text 4"/>
          <p:cNvSpPr/>
          <p:nvPr/>
        </p:nvSpPr>
        <p:spPr>
          <a:xfrm>
            <a:off x="7973568" y="1975104"/>
            <a:ext cx="3438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melhorou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973568" y="2359152"/>
            <a:ext cx="34381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Limiares: M = 0,66 · F = 0,18.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Seleção: 27% vs 9% → 17% vs 16%.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Disparate impact: 0,33 → 0,95 ✓ regra dos 80% satisfeita.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72400" y="4206240"/>
            <a:ext cx="3840480" cy="2103120"/>
          </a:xfrm>
          <a:prstGeom prst="roundRect">
            <a:avLst>
              <a:gd name="adj" fmla="val 3913"/>
            </a:avLst>
          </a:prstGeom>
          <a:solidFill>
            <a:srgbClr val="FDECEC"/>
          </a:solidFill>
          <a:ln/>
        </p:spPr>
      </p:sp>
      <p:sp>
        <p:nvSpPr>
          <p:cNvPr id="10" name="Text 7"/>
          <p:cNvSpPr/>
          <p:nvPr/>
        </p:nvSpPr>
        <p:spPr>
          <a:xfrm>
            <a:off x="7973568" y="4352544"/>
            <a:ext cx="3438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quebrou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973568" y="4736592"/>
            <a:ext cx="3438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TPR e FPR ficaram DESIGUAIS na direção oposta. Precisão no grupo F: 0,70 → 0,54 (mais “sims” errados). Acurácia: 84,6% → 83,3%.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injustiça você prefere?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teorema da impossibilidade do fairness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limitação do seu modelo, nem falta de dados. É aritmética.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949440" cy="2377440"/>
          </a:xfrm>
          <a:prstGeom prst="roundRect">
            <a:avLst>
              <a:gd name="adj" fmla="val 3462"/>
            </a:avLst>
          </a:prstGeom>
          <a:solidFill>
            <a:srgbClr val="EDF3F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75104"/>
            <a:ext cx="6547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(Kleinberg et al. 2016; Chouldechova 2016)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2359152"/>
            <a:ext cx="65471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dois grupos têm taxas-base diferentes (a % real de alvo=1 difere), NENHUM classificador imperfeito consegue, ao mesmo tempo: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ser calibrado (o escore significa o mesmo nos dois grupos);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ter TPR igual (equal opportunity);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ter FPR igual.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389120"/>
            <a:ext cx="6949440" cy="1737360"/>
          </a:xfrm>
          <a:prstGeom prst="roundRect">
            <a:avLst>
              <a:gd name="adj" fmla="val 4737"/>
            </a:avLst>
          </a:prstGeom>
          <a:solidFill>
            <a:srgbClr val="FDECEC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4535424"/>
            <a:ext cx="6547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consequência que define esta área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4919472"/>
            <a:ext cx="6547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“Ser justo” deixa de ser um problema de engenharia e vira uma ESCOLHA: qual definição de justiça este sistema vai priorizar? Essa escolha é ética, política e contextual, e alguém é prejudicado em qualquer opção.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38160" y="2103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calibração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732520" y="2468880"/>
            <a:ext cx="2011680" cy="20116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0" y="3977640"/>
            <a:ext cx="1463040" cy="1463040"/>
          </a:xfrm>
          <a:prstGeom prst="ellipse">
            <a:avLst/>
          </a:prstGeom>
          <a:solidFill>
            <a:srgbClr val="E4565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49840" y="4160520"/>
            <a:ext cx="1234440" cy="1234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0" y="5532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TPR igual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29800" y="5532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 igual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38160" y="5989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dá para ter os três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COMPAS revisitado: os dois lados estavam “certos”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debate mais famoso da área é um teorema disfarçado de escândalo.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2377440"/>
          </a:xfrm>
          <a:prstGeom prst="roundRect">
            <a:avLst>
              <a:gd name="adj" fmla="val 3462"/>
            </a:avLst>
          </a:prstGeom>
          <a:solidFill>
            <a:srgbClr val="FDECEC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75104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ProPublica: “é racista”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2359152"/>
            <a:ext cx="49926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FPR dos réus negros era ≈ 2× o dos réus brancos: inocentes negros eram rotulados de alto risco com muito mais frequência.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Métrica: equalized odds. ✗ violada.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EDF3FD"/>
          </a:solidFill>
          <a:ln/>
        </p:spPr>
      </p:sp>
      <p:sp>
        <p:nvSpPr>
          <p:cNvPr id="9" name="Text 7"/>
          <p:cNvSpPr/>
          <p:nvPr/>
        </p:nvSpPr>
        <p:spPr>
          <a:xfrm>
            <a:off x="6373368" y="1975104"/>
            <a:ext cx="5038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Northpointe: “é calibrado”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73368" y="2359152"/>
            <a:ext cx="50383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cada faixa de escore, a taxa real de reincidência era igual entre raças: “risco 7” significava o mesmo para todos.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Métrica: calibração. ✓ satisfeita.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389120"/>
            <a:ext cx="11064240" cy="1737360"/>
          </a:xfrm>
          <a:prstGeom prst="roundRect">
            <a:avLst>
              <a:gd name="adj" fmla="val 4737"/>
            </a:avLst>
          </a:prstGeom>
          <a:solidFill>
            <a:srgbClr val="EDF3FD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4535424"/>
            <a:ext cx="1066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fatos são verdadeiros ao mesmo tempo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49808" y="4919472"/>
            <a:ext cx="106619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taxas-base diferentes, satisfazer a calibração IMPLICA violar equalized odds, e vice-versa. A disputa não era técnica: era sobre QUAL injustiça a sociedade tolera num tribunal. Por isso a resposta precisa envolver mais gente do que os engenheiros.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“Justo” é uma escolha, e cada caso tem a sua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Notebook, Parte 4: o grupo revela o dilema do SEU caso e registra uma posição (Decisão 4).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EDF3F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8366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adult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77440" y="1883664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Descrever o mundo como é, ou como deveria ser?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EDF3FD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77063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77440" y="2770632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Calibração ou proteção igual de inocentes? (impossível ter as duas)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602736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EDF3FD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657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german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77440" y="3657600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paga o custo da equidade: o banco, os jovens ou todos?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489704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EDF3FD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54456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377440" y="4544568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a raça ou usá-la para corrigir? As duas podem ser “discriminação”?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5376672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EDF3FD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431536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377440" y="5431536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Ajudar sinalizando cedo, ou estigmatizar rotulando errado?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grupo pode responder “ninguém perde”.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Apresentação relâmpago: 2,5 minutos por grupo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Mostrem o painel final do notebook e respondam a três perguntas.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19842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971446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874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viés encontramos, e onde ele nasce?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2331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dados, no rótulo, nas variáveis ou no uso?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3218688"/>
            <a:ext cx="384048" cy="384048"/>
          </a:xfrm>
          <a:prstGeom prst="ellipse">
            <a:avLst/>
          </a:prstGeom>
          <a:solidFill>
            <a:srgbClr val="E4565C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205886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3108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correção melhorou, e o que piorou?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3566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Usem as diferenças entre grupos do painel.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44531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440326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4343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posição tomamos no dilema, e quem paga o preço?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4800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“ninguém perde”.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95160" y="1828800"/>
            <a:ext cx="4617720" cy="4343400"/>
          </a:xfrm>
          <a:prstGeom prst="roundRect">
            <a:avLst>
              <a:gd name="adj" fmla="val 1895"/>
            </a:avLst>
          </a:prstGeom>
          <a:solidFill>
            <a:srgbClr val="EDF3FD"/>
          </a:solidFill>
          <a:ln/>
        </p:spPr>
      </p:sp>
      <p:sp>
        <p:nvSpPr>
          <p:cNvPr id="18" name="Text 16"/>
          <p:cNvSpPr/>
          <p:nvPr/>
        </p:nvSpPr>
        <p:spPr>
          <a:xfrm>
            <a:off x="7196328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plateia: 1 pergunta por grupo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96328" y="2468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45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adult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24688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Retratar o mundo ou corrigi-lo?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96328" y="3200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45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21040" y="32004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erro é pior: FP ou FN?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96328" y="39319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45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german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21040" y="39319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15% da base, dá para AFIRMAR discriminação?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96328" y="46634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45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law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21040" y="46634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Cegar o modelo mudou algo? Por que não?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96328" y="53949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45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21040" y="53949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Contariam ao aluno que o algoritmo o marcou?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mundo real, isto vira documentação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painel final de vocês é um Model Card em miniatura.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51760" cy="2377440"/>
          </a:xfrm>
          <a:prstGeom prst="roundRect">
            <a:avLst>
              <a:gd name="adj" fmla="val 3462"/>
            </a:avLst>
          </a:prstGeom>
          <a:solidFill>
            <a:srgbClr val="EAF4E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031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Mitchell et al., 2019: desempenho desagregado por grupo, usos previstos e NÃO previstos.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83280" y="1920240"/>
            <a:ext cx="2651760" cy="2377440"/>
          </a:xfrm>
          <a:prstGeom prst="roundRect">
            <a:avLst>
              <a:gd name="adj" fmla="val 3462"/>
            </a:avLst>
          </a:prstGeom>
          <a:solidFill>
            <a:srgbClr val="EDF3FD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21031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Datasheets for Datasets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66160" y="278892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 et al., 2018: como os dados foram coletados e para que não servem.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2651760" cy="2377440"/>
          </a:xfrm>
          <a:prstGeom prst="roundRect">
            <a:avLst>
              <a:gd name="adj" fmla="val 3462"/>
            </a:avLst>
          </a:prstGeom>
          <a:solidFill>
            <a:srgbClr val="EDF3F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1031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(2024)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278892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Crédito, justiça, educação e emprego são “alto risco”: exigem avaliação formal.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052560" y="1920240"/>
            <a:ext cx="2651760" cy="2377440"/>
          </a:xfrm>
          <a:prstGeom prst="roundRect">
            <a:avLst>
              <a:gd name="adj" fmla="val 3462"/>
            </a:avLst>
          </a:prstGeom>
          <a:solidFill>
            <a:srgbClr val="EDF3FD"/>
          </a:solidFill>
          <a:ln/>
        </p:spPr>
      </p:sp>
      <p:sp>
        <p:nvSpPr>
          <p:cNvPr id="15" name="Text 13"/>
          <p:cNvSpPr/>
          <p:nvPr/>
        </p:nvSpPr>
        <p:spPr>
          <a:xfrm>
            <a:off x="9235440" y="21031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Brasil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235440" y="278892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art. 20: direito à revisão de decisões automatizadas; PL 2338/2023 em discussão.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754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nossos 5 casos estão todos em áreas de “alto risco” na regulação europeia.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937760"/>
            <a:ext cx="1463040" cy="1463040"/>
          </a:xfrm>
          <a:prstGeom prst="ellipse">
            <a:avLst/>
          </a:prstGeom>
          <a:solidFill>
            <a:srgbClr val="E4565C"/>
          </a:solidFill>
          <a:ln/>
        </p:spPr>
      </p:sp>
      <p:sp>
        <p:nvSpPr>
          <p:cNvPr id="3" name="Shape 1"/>
          <p:cNvSpPr/>
          <p:nvPr/>
        </p:nvSpPr>
        <p:spPr>
          <a:xfrm>
            <a:off x="9235440" y="438912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858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LEVAR PARA A VIDA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56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34440" y="1325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média esconde. 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Desagregue as métricas por grupo, sempre.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56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34440" y="21945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Cegar não resolve. 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proxies carregam a informação, e sem a coluna você nem mede.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56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234440" y="3063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“Justo” é plural. 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definições são incompatíveis: escolher é uma decisão ética.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56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34440" y="3931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Decisões técnicas moldam vidas. 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Limpar, escolher métrica e cortar limiar redistribuem oportunidades.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" y="49834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40080" y="57607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Notebook, fontes dos dados e a versão estendida (3 encontros): github.com/DiogoCampanha/workshop-ia-responsavel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2026-10-04T18:45:31Z</dcterms:created>
  <dcterms:modified xsi:type="dcterms:W3CDTF">2026-10-04T18:45:31Z</dcterms:modified>
</cp:coreProperties>
</file>