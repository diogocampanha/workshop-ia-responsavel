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Limiar único (0,50)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Taxa de seleção M</c:v>
                  </c:pt>
                  <c:pt idx="1">
                    <c:v>Taxa de seleção F</c:v>
                  </c:pt>
                  <c:pt idx="2">
                    <c:v>TPR M</c:v>
                  </c:pt>
                  <c:pt idx="3">
                    <c:v>TPR F</c:v>
                  </c:pt>
                  <c:pt idx="4">
                    <c:v>FPR M</c:v>
                  </c:pt>
                  <c:pt idx="5">
                    <c:v>FPR 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0.27</c:v>
                </c:pt>
                <c:pt idx="1">
                  <c:v>0.09</c:v>
                </c:pt>
                <c:pt idx="2">
                  <c:v>0.63</c:v>
                </c:pt>
                <c:pt idx="3">
                  <c:v>0.52</c:v>
                </c:pt>
                <c:pt idx="4">
                  <c:v>0.1</c:v>
                </c:pt>
                <c:pt idx="5">
                  <c:v>0.03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Limiares por grupo</c:v>
                </c:pt>
              </c:strCache>
            </c:strRef>
          </c:tx>
          <c:spPr>
            <a:solidFill>
              <a:srgbClr val="E4565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Taxa de seleção M</c:v>
                  </c:pt>
                  <c:pt idx="1">
                    <c:v>Taxa de seleção F</c:v>
                  </c:pt>
                  <c:pt idx="2">
                    <c:v>TPR M</c:v>
                  </c:pt>
                  <c:pt idx="3">
                    <c:v>TPR F</c:v>
                  </c:pt>
                  <c:pt idx="4">
                    <c:v>FPR M</c:v>
                  </c:pt>
                  <c:pt idx="5">
                    <c:v>FPR F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0.17</c:v>
                </c:pt>
                <c:pt idx="1">
                  <c:v>0.16</c:v>
                </c:pt>
                <c:pt idx="2">
                  <c:v>0.46</c:v>
                </c:pt>
                <c:pt idx="3">
                  <c:v>0.74</c:v>
                </c:pt>
                <c:pt idx="4">
                  <c:v>0.04</c:v>
                </c:pt>
                <c:pt idx="5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850" u="none">
                  <a:solidFill>
                    <a:srgbClr val="23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começar: todos re-executam o notebook do Dia 1 (Restart &amp; Run All até o fim do Dia 1) para ter o modelo treinado. 5 min de recap: o que é erro médio, por que a média esconde.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 sequência é deliberada: começa no concreto (contar linhas) e sobe até o abstrato (impossibilidade matemática).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notebook 2.1 em seguida (TAREFA 3). Provocação: se a taxa real de alvo=1 difere entre grupos, reproduzi-la é viés ou é retratar a realidade? (Não responder — o Dia 2 inteiro é essa resposta.)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conceitos ANTES do notebook 2.2 (nomes em inglês são os termos de busca para o mini-projeto). Checagem rápida de entendimento: 'TPR de 60% para mulheres e 85% para homens no adult significa o quê, em português?'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2.3 em seguida. Ponto sutil para os casos compas e student: quando a previsão positiva PREJUDICA (rótulo de risco), a leitura da barra inverte — taxa de seleção alta é o grupo penalizado. O notebook avisa, mas vale reforçar.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2.4 + TAREFA 4 (~15 min). O caso 'law' é o exemplo canônico deste slide — o grupo com esse dataset deve apresentar esse achado no Dia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Bibliotecas: Fairlearn (Microsoft) e AIF360 (IBM) implementam as três famílias — citar como caminho pós-workshop.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prepara o notebook 2.5 (30 min, o coração do workshop). Cada grupo tenta 'consertar' seu caso com limiares e documenta o que quebrou. Os números do slide vêm do caso adult com regressão logística (limiares M=0,66, F=0,18) — os dos grupos serão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DEPOIS de os grupos suarem no notebook 2.5 — a frustração deles é o teorema. Intuição da prova: com taxas-base diferentes, igualar FPR e TPR força escores com significados diferentes por grupo, quebrando a calibração.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grupo com o dataset compas deve conectar isso diretamente ao próprio dilema (notebook 2.6). Perguntar à turma: quem deveria escolher a métrica de um sistema desses? O fornecedor? O tribunal? O legislador?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 para discussão em grupo + registro. Circular entre os grupos provocando: 'quem perde com a opção de vocês?' — nenhum grupo pode responder 'ninguém'.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Checar que todos os grupos registraram DECISAO_DO_GRUPO e LIMIARES antes de sair — o Dia 3 depende disso.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005840"/>
            <a:ext cx="2103120" cy="210312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468880"/>
            <a:ext cx="1325880" cy="132588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31089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INTRODUÇÃO À IA RESPONSÁVEL NA PRÁTICA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DE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Investigando o modelo — e os trade-offs de fairness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lentes de auditoria, as métricas formais de fairness — e a descoberta de que não dá para otimizar todas ao mesmo tempo.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 em Ciência da Computação  ·  1h40  ·  viés &amp; fairness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de hoje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em ordem crescente de abstração — termina no conflito.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7027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7373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1 · Representação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nos dados? (notebook 2.1)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2923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963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4963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2 · Desempenho por grupo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TPR, FPR, equalized odds (notebook 2.2)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881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2552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2552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3 · Taxa de seleção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e a regra dos 80% (notebook 2.3)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0599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04713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0142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401421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4 · O que o modelo usa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Importâncias e proxies (notebook 2.4)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818888"/>
            <a:ext cx="384048" cy="384048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80608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773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47731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O conflito entre métricas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limiares + teorema da impossibilidade (notebook 2.5-2.6)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577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56503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5532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55321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Mini-projeto — </a:t>
            </a:r>
            <a:pPr indent="0" marL="0"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levar para o Dia 3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1 · Representação: quem está nos dados?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auditoria mais barata que existe: value_counts(). E uma das mais reveladoras.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amostragem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raro nos dados → o modelo aprende pouco sobre ele → erra mais nele — e a métrica desse grupo fica estatisticamente instável (poucas amostras = muita sorte/azar).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261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Gender Shades (2018)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64515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 &amp; Gebru: reconhecimento facial comercial errava 0,8% em homens de pele clara e até 34,7% em mulheres de pele escura — grupos quase ausentes dos dados de treino.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atenção: representação ≠ suficiência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bem representado ainda pode carregar rótulos historicamente enviesados. Contar é o começo da auditoria, não o fim.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A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261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 (2.1)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645152"/>
            <a:ext cx="5038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contagens por grupo: quantas pessoas — e que % tem alvo=1 nos DADOS. Se as taxas reais já diferem, discutam: diferença legítima, herança histórica ou rótulo mal medido?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2 · O modelo erra igual para todos?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métricas de fairness mais usadas na literatura nascem de uma ideia simples: compare os ERROS, não só os acertos.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— taxa de verdadeiros positivos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SÃO alvo=1, quantos o modelo reconhece?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igual entre grupos = IGUALDADE DE OPORTUNIDADE (equal opportunity): quem merece o “sim” tem a mesma chance de recebê-lo, em qualquer grupo.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44398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— taxa de falsos positivos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828032"/>
            <a:ext cx="4992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NÃO são alvo=1, quantos levam “sim” por engano?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+ FPR iguais = EQUALIZED ODDS (Hardt et al., 2016).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D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captura “justiça”?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erros têm consequências. Se o FPR do grupo A é 2× o do grupo B, inocentes/não-qualificados do grupo A pagam o preço 2× mais vezes.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exatamente essa a denúncia da ProPublica no COMPAS.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29768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EA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44398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 (2.2)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828032"/>
            <a:ext cx="5038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acurácia, TPR, FPR e precisão por grupo + gráfico. Anotem as diferenças — elas vão para o relatório.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3 · Taxa de seleção e a regra dos 80%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que virou lei: quantos % de cada grupo recebem o “sim”?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seleção &amp; paridade demográfica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seleção = % do grupo com previsão POSITIVA.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iguais entre grupos = paridade demográfica — sem olhar quem “merecia”.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07822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e a regra dos 80% (EEOC, 1978)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462272"/>
            <a:ext cx="4992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= taxa menor ÷ taxa maior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razão &lt; 0,80 → indício legal de impacto desproporcional na legislação trabalhista dos EUA. É um LIMIAR PRAGMÁTICO — não uma definição de justiça.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taxa de seleção por grupo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3182112"/>
            <a:ext cx="1371600" cy="2852928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770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6126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4893869"/>
            <a:ext cx="1371600" cy="1141171"/>
          </a:xfrm>
          <a:prstGeom prst="roundRect">
            <a:avLst>
              <a:gd name="adj" fmla="val 4006"/>
            </a:avLst>
          </a:prstGeom>
          <a:solidFill>
            <a:srgbClr val="E456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448238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0" y="6126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6446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= 24 ÷ 60 = 0,40  →  ❌ bem abaixo de 0,80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4 · Proxies e a falácia de “cegar” o modelo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do notebook: remover o atributo sensível... e ver que quase nada muda.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through unawareness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tirar a coluna sexo/raça/idade, o modelo fica justo.”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porque outras variáveis carregam a mesma informação (codificação redundante): CEP ↔ raça, escola ↔ renda, nota do LSAT ↔ grupo racial...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35254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pior: sem a coluna, você não MEDE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73659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auditar disparidade por grupo é preciso TER o atributo sensível. Apagá-lo não remove a discriminação — remove a capacidade de enxergá-la.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EA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359152"/>
            <a:ext cx="5038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Importância das variáveis (notebook 2.4): em que o modelo se apoia?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Alguma das top-12 é proxy plausível do grupo?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TAREFA 4: retreinar sem o atributo sensível e comparar as métricas por grupo.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435254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além: explicabilidade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4736592"/>
            <a:ext cx="5038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 SHAP explicam previsões individuais (“por que ESTA pessoa foi negada?”) — referência de pesquisa para o mini-projeto e tema de carreira em alta.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dá para intervir: 3 famílias de mitigação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usa a 3ª — a mais simples de entender e auditar.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Mexer nos DADOS antes do treino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Rebalancear amostra, reponderar exemplos (reweighing), remover/transformar proxies.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DF3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Mexer no TREINO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restrição de fairness à otimização (ex.: exponentiated gradient no Fairlearn).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93024" y="187452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AF4EE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PÓS-processamento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Mexer nas PREVISÕES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94192" y="29260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de decisão diferentes por grupo (Hardt et al., 2016) — é o que faremos agora no notebook 2.5.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família elimina o problema de fundo: toda mitigação otimiza UMA definição de justiça — à custa de outra.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💥 Consertar aqui, quebrar ali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do notebook (caso adult, regressão logística): igualamos a taxa de seleção... e vejam o resto.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28800"/>
            <a:ext cx="3840480" cy="2194560"/>
          </a:xfrm>
          <a:prstGeom prst="roundRect">
            <a:avLst>
              <a:gd name="adj" fmla="val 3750"/>
            </a:avLst>
          </a:prstGeom>
          <a:solidFill>
            <a:srgbClr val="EAF4EE"/>
          </a:solidFill>
          <a:ln/>
        </p:spPr>
      </p:sp>
      <p:sp>
        <p:nvSpPr>
          <p:cNvPr id="7" name="Text 4"/>
          <p:cNvSpPr/>
          <p:nvPr/>
        </p:nvSpPr>
        <p:spPr>
          <a:xfrm>
            <a:off x="7973568" y="1975104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melhorou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73568" y="2359152"/>
            <a:ext cx="3438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Limiares: M = 0,66 · F = 0,18.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Seleção: 27% vs 9% → 17% vs 16%.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impact: 0,33 → 0,95 ✓ regra dos 80% satisfeita.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4206240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FDECEC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4352544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quebrou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73568" y="4736592"/>
            <a:ext cx="3438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e FPR agora são DESIGUAIS na direção oposta. Precisão no grupo F: 0,70 → 0,54 (mais “sims” errados). Acurácia: 84,6% → 83,3%.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injustiça você prefere?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teorema da impossibilidade do fairness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limitação do seu modelo. Não é falta de dados. É aritmética.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94944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(Kleinberg et al. 2016; Chouldechova 2016)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6547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dois grupos têm taxas-base diferentes (a % real de alvo=1 difere), NENHUM classificador imperfeito consegue, ao mesmo tempo: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ser calibrado (escore significa o mesmo nos dois grupos);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ter TPR igual (equal opportunity);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ter FPR igual.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no máximo duas — em geral, uma.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6949440" cy="1737360"/>
          </a:xfrm>
          <a:prstGeom prst="roundRect">
            <a:avLst>
              <a:gd name="adj" fmla="val 4737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53542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 que define esta área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919472"/>
            <a:ext cx="6547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 justo” deixa de ser um problema de engenharia e vira uma ESCOLHA: qual definição de justiça este sistema vai priorizar? Essa escolha é ética, política e contextual — e alguém é prejudicado em qualquer opção.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2468880"/>
            <a:ext cx="2011680" cy="2011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3977640"/>
            <a:ext cx="1463040" cy="146304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0" y="4160520"/>
            <a:ext cx="1234440" cy="1234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5532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igual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29800" y="5532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igual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5989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2 (com sorte)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 revisitado: os dois lados estavam “certos”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debate mais famoso da área é um teorema disfarçado de escândalo.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DECE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ProPublica: “é racista”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4992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de réus negros ≈ 2× o de réus brancos: inocentes negros rotulados de alto risco com muito mais frequência.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equalized odds. ❌ violada.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1975104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Northpointe: “é calibrado”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73368" y="2359152"/>
            <a:ext cx="50383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faixa de escore, a taxa real de reincidência era igual entre raças — “risco 7” significava o mesmo para todos.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calibração. ✓ satisfeita.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535424"/>
            <a:ext cx="1066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fatos são verdadeiros ao mesmo tempo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4919472"/>
            <a:ext cx="10661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taxas-base diferentes, satisfazer calibração IMPLICA violar equalized odds (e vice-versa). A disputa não era técnica — era sobre QUAL injustiça a sociedade tolera num tribunal. É por isso que a resposta precisa envolver mais gente que os engenheiros.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· IA RESPONSÁVEL NA PRÁTICA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“Justo” é uma escolha — e cada caso tem a sua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2.6: cada grupo revela agora o dilema ético do SEU caso e registra uma posição.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DF3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mundo como é — ou como deveria ser?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DF3FD"/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73368" y="23042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ou proteção igual de inocentes? (impossível ter ambos)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9808" y="37856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 o custo da equidade: o banco, os jovens ou todos?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3101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D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diabetes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73368" y="37856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limitadas: eficiência total ou acesso igual?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914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D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526694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a raça ou usá-la para corrigir? Ambos são “discriminação”?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7914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D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73368" y="526694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sinalizando cedo — ou estigmatizar rotulando errado?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Registrem a DECISÃO DO GRUPO no notebook (Decisão 5): opção, justificativa, quem ganha, quem perde, salvaguardas.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846320"/>
            <a:ext cx="1554480" cy="1554480"/>
          </a:xfrm>
          <a:prstGeom prst="ellipse">
            <a:avLst/>
          </a:prstGeom>
          <a:solidFill>
            <a:srgbClr val="E456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2062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levar de hoje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UMA definição de justo.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a responsabilidade de escolher — 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de dizer em voz alta quem paga o preço.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Dia 3 — trazer pronto: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limiares finais + decisão do grupo registrados no notebook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relatório gerado (seção 3.1) e a figura “antes × depois”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apresentação de ~8 min seguindo o roteiro da seção 3.2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2026-10-04T18:45:30Z</dcterms:created>
  <dcterms:modified xsi:type="dcterms:W3CDTF">2026-10-04T18:45:30Z</dcterms:modified>
</cp:coreProperties>
</file>