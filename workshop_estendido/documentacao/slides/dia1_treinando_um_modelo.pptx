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 (5 min). Confirmar que todos abriram o notebook e rodaram a célula de setup. Mensagem-chave do dia: o objetivo não é aprender a programar modelos, é desenvolver julgamento crítico. A teoria de hoje emerge da prática — alternaremos slides 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rápido (1 min). Reforçar: quem travar levanta a mão — existe configuração de referência no notebook que sempre funciona.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5-7 min. Estes três casos voltarão nos Dias 2 e 3: COMPAS é um dos datasets do workshop; o caso da Science é análogo ao dataset de diabetes. Pergunta para a turma: onde estava o erro em cada caso — no código ou nos dados? (Resposta: em nenhum dos dois isoladamente; nas decisões.)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Deixar claro que IA Responsável é área ampla; o workshop escolhe profundidade em vez de superfície.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 — apresentar ANTES da seção 1.4 do notebook. Estas duas consequências são a fundação teórica do workshop inteiro. Analogia útil: estudar apenas por provas antigas de um professor injusto.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Conectar com o notebook: Decisão 1 = dataset, Decisão 2 = variáveis/faltantes, Decisão 3 = modelo. O limiar (6) fica para o Dia 2 — é o clímax.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Não decorar a taxonomia — o objetivo é dar vocabulário. No Dia 2 cada grupo identifica qual(is) desses vive no seu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min, logo antes da seção 1.5 do notebook. Peçam para cada grupo traduzir FP e FN para o SEU caso em voz alta — a ficha do dataset no notebook ajuda.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formar os grupos e distribuir os casos — 1 por grupo, sem repetição; sugestão: sortear. IMPORTANTE: NÃO revelar os atributos sensíveis agora — cada grupo os recebe individualmente só depois de registrar suas hipóteses (notebook 1.6-1.7). Depois, notebook seções 1.1-1.2.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 min de discussão + revelação, ~15 de retreino. Distribuir os atributos por grupo, em papel ou verbalmente (NÃO projetar): adult→sexo · compas→raca · german→faixa_etaria · diabetes→raca · law→raca · student→zona. Circular entre os grupos durante a hipótese; não confirmar nem negar palpites.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O notebook gera um rascunho automático do relatório no Dia 3 (seção 3.1) — mas só com as decisões preenchidas. Grupos que anotam hoje economizam tempo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(2 min). Pedir que salvem o notebook com as decisões do grupo — o Dia 2 continua exatamente de onde paramos.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1005840"/>
            <a:ext cx="2103120" cy="2103120"/>
          </a:xfrm>
          <a:prstGeom prst="ellipse">
            <a:avLst/>
          </a:prstGeom>
          <a:solidFill>
            <a:srgbClr val="2E3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468880"/>
            <a:ext cx="1325880" cy="1325880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4" name="Shape 2"/>
          <p:cNvSpPr/>
          <p:nvPr/>
        </p:nvSpPr>
        <p:spPr>
          <a:xfrm>
            <a:off x="8732520" y="310896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INTRODUÇÃO À IA RESPONSÁVEL NA PRÁTICA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DE 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Treinando um modelo — e enxergando de onde vêm os problemas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vocês treinam um classificador de verdade, com dados reais — e descobrem que cada decisão “técnica” no caminho já é uma decisão sobre pessoas.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Graduação em Ciência da Computação  ·  1h40  ·  viés &amp; fairness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plano de hoje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Aprendizagem por descoberta: notebook primeiro, teoria no momento em que ela é necessária.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18562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4343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178308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IA Responsável? — </a:t>
            </a:r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desastres reais para calibrar a importância do tema.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6974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68467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62432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262432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+ exploração + preparação — </a:t>
            </a:r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1.1–1.3: cada grupo adota um dataset real e decide o que fazer com dados faltantes.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35387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52592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465576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3465576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e avaliação — </a:t>
            </a:r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1.4–1.5: escolher o modelo, treinar, ler acurácia e matriz de confusão.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3799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36717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4306824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40280" y="430682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este modelo pode ser injusto? — </a:t>
            </a:r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1.6–1.7: o grupo registra hipóteses — e só então recebe o atributo sensível do caso.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522122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20842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514807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40280" y="514807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Retreino + mini-projeto — </a:t>
            </a:r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1.8: modelo com × sem o atributo sensível; leitura crítica e lançamento do projeto.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isso importa? Três sistemas reais que falharam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desses times queria discriminar. Todos discriminaram.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3200400"/>
          </a:xfrm>
          <a:prstGeom prst="roundRect">
            <a:avLst>
              <a:gd name="adj" fmla="val 2571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 (2016)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32095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Escore de reincidência usado por juízes nos EUA. A ProPublica mostrou: réus negros tinham quase 2× mais falsos positivos que réus brancos — inocentes rotulados de “alto risco”.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5166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5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≈2×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49808" y="587044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para réus negros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70832" y="1828800"/>
            <a:ext cx="3611880" cy="3200400"/>
          </a:xfrm>
          <a:prstGeom prst="roundRect">
            <a:avLst>
              <a:gd name="adj" fmla="val 2571"/>
            </a:avLst>
          </a:prstGeom>
          <a:solidFill>
            <a:srgbClr val="EDF3F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7510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Recrutamento da Amazon (2018)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0" y="2359152"/>
            <a:ext cx="32095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triagem de currículos aprendeu com contratações passadas — e passou a penalizar currículos com a palavra “women's”. Foi descontinuada.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5166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5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anos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0" y="587044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 históricos enviesados como “gabarito”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93024" y="1828800"/>
            <a:ext cx="3611880" cy="3200400"/>
          </a:xfrm>
          <a:prstGeom prst="roundRect">
            <a:avLst>
              <a:gd name="adj" fmla="val 2571"/>
            </a:avLst>
          </a:prstGeom>
          <a:solidFill>
            <a:srgbClr val="EDF3FD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197510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nos EUA (Science, 2019)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94192" y="2359152"/>
            <a:ext cx="32095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hospitalar usava custo como proxy de necessidade. Pacientes negros — que geram menos custo por terem menos acesso — pareciam “mais saudáveis” do que estavam.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94192" y="5166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5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2,6×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394192" y="587044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pacientes negros no cuidado extra se o viés fosse corrigido (17,7% → 46,5%)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Responsável: o mapa da área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recorte nestes 3 dias: viés &amp; fairness — com profundidade, não por cima.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00" cy="786384"/>
          </a:xfrm>
          <a:prstGeom prst="roundRect">
            <a:avLst>
              <a:gd name="adj" fmla="val 9302"/>
            </a:avLst>
          </a:prstGeom>
          <a:solidFill>
            <a:srgbClr val="FDECE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0195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/ não-discriminação  —  </a:t>
            </a:r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trata grupos e indivíduos de forma equitativa? ← NOSSO FOCO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7315200" cy="786384"/>
          </a:xfrm>
          <a:prstGeom prst="roundRect">
            <a:avLst>
              <a:gd name="adj" fmla="val 9302"/>
            </a:avLst>
          </a:prstGeom>
          <a:solidFill>
            <a:srgbClr val="EDF3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346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Explicabilidade  —  </a:t>
            </a:r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entender por que o modelo decidiu? (LIME, SHAP — Dia 2)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7315200" cy="786384"/>
          </a:xfrm>
          <a:prstGeom prst="roundRect">
            <a:avLst>
              <a:gd name="adj" fmla="val 9302"/>
            </a:avLst>
          </a:prstGeom>
          <a:solidFill>
            <a:srgbClr val="EDF3F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7673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 —  </a:t>
            </a:r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protegidos? (LGPD, GDPR)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26864"/>
            <a:ext cx="7315200" cy="786384"/>
          </a:xfrm>
          <a:prstGeom prst="roundRect">
            <a:avLst>
              <a:gd name="adj" fmla="val 9302"/>
            </a:avLst>
          </a:prstGeom>
          <a:solidFill>
            <a:srgbClr val="EDF3F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70001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 &amp; segurança  —  </a:t>
            </a:r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sob ataque, ruído, mudança de contexto?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559552"/>
            <a:ext cx="7315200" cy="786384"/>
          </a:xfrm>
          <a:prstGeom prst="roundRect">
            <a:avLst>
              <a:gd name="adj" fmla="val 9302"/>
            </a:avLst>
          </a:prstGeom>
          <a:solidFill>
            <a:srgbClr val="EDF3F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632704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&amp; prestação de contas  —  </a:t>
            </a:r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responde quando o sistema erra? Documentação (Dia 3)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1828800"/>
            <a:ext cx="3429000" cy="4617720"/>
          </a:xfrm>
          <a:prstGeom prst="roundRect">
            <a:avLst>
              <a:gd name="adj" fmla="val 2400"/>
            </a:avLst>
          </a:prstGeom>
          <a:solidFill>
            <a:srgbClr val="EDF3FD"/>
          </a:solidFill>
          <a:ln/>
        </p:spPr>
      </p:sp>
      <p:sp>
        <p:nvSpPr>
          <p:cNvPr id="16" name="Text 14"/>
          <p:cNvSpPr/>
          <p:nvPr/>
        </p:nvSpPr>
        <p:spPr>
          <a:xfrm>
            <a:off x="8385048" y="1975104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só fairness?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85048" y="2359152"/>
            <a:ext cx="302666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em 3 encontros dá para percorrer o ciclo completo: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→ medir a injustiça → tentar consertar → descobrir o trade-off → decidir.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ciclo é o mesmo raciocínio que vocês vão reutilizar nos outros pilares, na carreira.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 modelo aprende — e por que isso gera viés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não sabe o que é justo. Ele sabe o que é frequente.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passado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35808" y="20116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20440" y="187452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EDF3FD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874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estatísticos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07608" y="20116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92240" y="187452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874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o ERRO MÉDIO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79408" y="20116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464040" y="187452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EDF3FD"/>
          </a:solidFill>
          <a:ln/>
        </p:spPr>
      </p:sp>
      <p:sp>
        <p:nvSpPr>
          <p:cNvPr id="15" name="Text 13"/>
          <p:cNvSpPr/>
          <p:nvPr/>
        </p:nvSpPr>
        <p:spPr>
          <a:xfrm>
            <a:off x="9555480" y="1874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Previsões sobre pessoas novas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5440680" cy="3017520"/>
          </a:xfrm>
          <a:prstGeom prst="roundRect">
            <a:avLst>
              <a:gd name="adj" fmla="val 2727"/>
            </a:avLst>
          </a:prstGeom>
          <a:solidFill>
            <a:srgbClr val="EDF3FD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300984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1 — o passado vira gabarito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9808" y="3685032"/>
            <a:ext cx="50383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os dados registram um mundo desigual (salários, prisões, notas), o padrão desigual é EXATAMENTE o que o modelo aprende a reproduzir.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não erra ao fazer isso: ele está otimizando o que pedimos. Nós é que pedimos a coisa errada.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440680" cy="3017520"/>
          </a:xfrm>
          <a:prstGeom prst="roundRect">
            <a:avLst>
              <a:gd name="adj" fmla="val 2727"/>
            </a:avLst>
          </a:prstGeom>
          <a:solidFill>
            <a:srgbClr val="FDECEC"/>
          </a:solidFill>
          <a:ln/>
        </p:spPr>
      </p:sp>
      <p:sp>
        <p:nvSpPr>
          <p:cNvPr id="20" name="Text 18"/>
          <p:cNvSpPr/>
          <p:nvPr/>
        </p:nvSpPr>
        <p:spPr>
          <a:xfrm>
            <a:off x="6373368" y="3300984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2 — a minoria é “barata” de ignorar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373368" y="3685032"/>
            <a:ext cx="50383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MÉDIO: errar tudo num grupo de 5% da base custa no máximo 5 pontos de acurácia.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pode ter 95% de acurácia e estar 100% errado sobre um grupo inteiro. A média esconde — desagregar revela (Dia 2).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modelo é uma cadeia de decisões humanas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vão tomar 5 dessas decisões no notebook — e ver o efeito de cada uma.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4459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EDF3FD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70662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 dados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309067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entra na amostra? Quem fica de fora?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53712" y="20574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204459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70832" y="256032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EDF3F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70662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 rótulo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0" y="309067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conta como “verdade”? (preso de novo = reincidiu?)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75904" y="20574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04459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93024" y="256032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EDF3FD"/>
          </a:solidFill>
          <a:ln/>
        </p:spPr>
      </p:sp>
      <p:sp>
        <p:nvSpPr>
          <p:cNvPr id="18" name="Text 16"/>
          <p:cNvSpPr/>
          <p:nvPr/>
        </p:nvSpPr>
        <p:spPr>
          <a:xfrm>
            <a:off x="8394192" y="270662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variáveis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94192" y="309067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o atributo sensível? E os proxies?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206240"/>
            <a:ext cx="384048" cy="384048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9343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EDF3FD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85546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faltantes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49808" y="523951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Apagar linhas apaga pessoas — de qual grupo?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53712" y="4206240"/>
            <a:ext cx="384048" cy="384048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419343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370832" y="470916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EDF3FD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485546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modelo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72000" y="523951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Interpretável ou preciso?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75904" y="4206240"/>
            <a:ext cx="384048" cy="384048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31" name="Text 29"/>
          <p:cNvSpPr/>
          <p:nvPr/>
        </p:nvSpPr>
        <p:spPr>
          <a:xfrm>
            <a:off x="8375904" y="419343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193024" y="470916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EDF3FD"/>
          </a:solidFill>
          <a:ln/>
        </p:spPr>
      </p:sp>
      <p:sp>
        <p:nvSpPr>
          <p:cNvPr id="33" name="Text 31"/>
          <p:cNvSpPr/>
          <p:nvPr/>
        </p:nvSpPr>
        <p:spPr>
          <a:xfrm>
            <a:off x="8394192" y="485546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 o limiar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394192" y="523951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que probabilidade dizemos “sim”?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dessas escolhas é neutra. “Não decidir” = aceitar o padrão de alguém.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os vieses vêm: um catálogo de bolso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dos 6 casos do workshop esconde um tipo diferente. Descobrir o seu é parte do mini-projeto.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histórico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32095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retratam fielmente um mundo que era injusto. Ex.: salários por gênero em 1994.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0832" y="182880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97510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de representação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0" y="2359152"/>
            <a:ext cx="32095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pequeno ou ausente na amostra → modelo erra mais nele. Ex.: jovens em base de crédito.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93024" y="182880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12" name="Text 10"/>
          <p:cNvSpPr/>
          <p:nvPr/>
        </p:nvSpPr>
        <p:spPr>
          <a:xfrm>
            <a:off x="8394192" y="197510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de medição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394192" y="2359152"/>
            <a:ext cx="32095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rótulo não mede o que pensamos. “Foi preso” ≠ “cometeu crime”; “voltou ao hospital” ≠ “precisou voltar”.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426110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por proxy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49808" y="4645152"/>
            <a:ext cx="32095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Removemos o atributo sensível, mas CEP, escola e nota o “entregam” (codificação redundante).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70832" y="411480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426110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de agregação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0" y="4645152"/>
            <a:ext cx="32095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único para grupos com padrões diferentes serve mal a todos os minoritários.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93024" y="411480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21" name="Text 19"/>
          <p:cNvSpPr/>
          <p:nvPr/>
        </p:nvSpPr>
        <p:spPr>
          <a:xfrm>
            <a:off x="8394192" y="426110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de implantação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394192" y="4645152"/>
            <a:ext cx="32095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é usado num contexto diferente do que foi treinado — ou para decidir mais do que devia.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é escolher: acurácia, FP e FN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“o modelo é bom?” esconde outra: “bom para quem?”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engana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4992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desbalanceado (ex.: 90% negativos)? Um modelo que chuta “não” para todo mundo já acerta 90%.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compare com o “chute da maioria” — está no notebook (1.5).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FDECE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12394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erros não custam o mesmo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4507992"/>
            <a:ext cx="49926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positivo: sistema diz SIM e era NÃO.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negativo: sistema diz NÃO e era SIM.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crédito: FP custa ao banco, FN nega crédito a quem merecia. Na justiça criminal: FP pode prender um inocente. Quem define qual é pior?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7512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confusão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43800" y="2651760"/>
            <a:ext cx="2103120" cy="1417320"/>
          </a:xfrm>
          <a:prstGeom prst="roundRect">
            <a:avLst>
              <a:gd name="adj" fmla="val 4516"/>
            </a:avLst>
          </a:prstGeom>
          <a:solidFill>
            <a:srgbClr val="EDF3FD"/>
          </a:solidFill>
          <a:ln/>
        </p:spPr>
      </p:sp>
      <p:sp>
        <p:nvSpPr>
          <p:cNvPr id="13" name="Text 11"/>
          <p:cNvSpPr/>
          <p:nvPr/>
        </p:nvSpPr>
        <p:spPr>
          <a:xfrm>
            <a:off x="7543800" y="28163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54380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verdadeiro negativo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756648" y="2651760"/>
            <a:ext cx="2103120" cy="1417320"/>
          </a:xfrm>
          <a:prstGeom prst="roundRect">
            <a:avLst>
              <a:gd name="adj" fmla="val 4516"/>
            </a:avLst>
          </a:prstGeom>
          <a:solidFill>
            <a:srgbClr val="F6C6C9"/>
          </a:solidFill>
          <a:ln/>
        </p:spPr>
      </p:sp>
      <p:sp>
        <p:nvSpPr>
          <p:cNvPr id="16" name="Text 14"/>
          <p:cNvSpPr/>
          <p:nvPr/>
        </p:nvSpPr>
        <p:spPr>
          <a:xfrm>
            <a:off x="9756648" y="28163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756648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positivo 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43800" y="4178808"/>
            <a:ext cx="2103120" cy="1417320"/>
          </a:xfrm>
          <a:prstGeom prst="roundRect">
            <a:avLst>
              <a:gd name="adj" fmla="val 4516"/>
            </a:avLst>
          </a:prstGeom>
          <a:solidFill>
            <a:srgbClr val="F6C6C9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4343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543800" y="49103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negativo ⚠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756648" y="4178808"/>
            <a:ext cx="2103120" cy="1417320"/>
          </a:xfrm>
          <a:prstGeom prst="roundRect">
            <a:avLst>
              <a:gd name="adj" fmla="val 4516"/>
            </a:avLst>
          </a:prstGeom>
          <a:solidFill>
            <a:srgbClr val="EDF3FD"/>
          </a:solidFill>
          <a:ln/>
        </p:spPr>
      </p:sp>
      <p:sp>
        <p:nvSpPr>
          <p:cNvPr id="22" name="Text 20"/>
          <p:cNvSpPr/>
          <p:nvPr/>
        </p:nvSpPr>
        <p:spPr>
          <a:xfrm>
            <a:off x="9756648" y="4343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756648" y="49103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verdadeiro positivo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43800" y="22951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modelo disse 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91072" y="38862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era verdade ↓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6 estudos de caso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reais, todos com viés embutido — cada um com um dilema diferente, que vocês descobrem no Dia 2.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568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💰 adult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3408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(censo EUA)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69748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quem ganha &gt;50 mil US$/ano a partir do censo de 1994.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0832" y="182880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9568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⚖️ compas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3408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Justiça criminal (EUA)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269748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reincidência em 2 anos. Aqui, previsão positiva PREJUDICA (pode negar fiança).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93024" y="182880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14" name="Text 12"/>
          <p:cNvSpPr/>
          <p:nvPr/>
        </p:nvSpPr>
        <p:spPr>
          <a:xfrm>
            <a:off x="8394192" y="19568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🏦 german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94192" y="23408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(Alemanha)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94192" y="269748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bom pagador. Erros têm custos assimétricos (5:1).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2428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🏥 diabetes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9808" y="46268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(130 hospitais)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9808" y="498348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readmissão em 30 dias → vaga em programa de cuidado extra.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70832" y="411480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42428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🎓 law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6268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 da ordem (EUA)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0" y="498348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aprovação no bar exam; usado em admissões e bolsas.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93024" y="411480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26" name="Text 24"/>
          <p:cNvSpPr/>
          <p:nvPr/>
        </p:nvSpPr>
        <p:spPr>
          <a:xfrm>
            <a:off x="8394192" y="42428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🏫 student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94192" y="46268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(Portugal)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94192" y="498348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risco de reprovação → aluno recebe reforço (e um rótulo).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este modelo pode ser injusto?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a hipótese de vocês. Só depois, a resposta — é assim que cientistas trabalham.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 hipótese (notebook 1.6)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49926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ferramentas novas — só com as colunas, a matriz de confusão e o contexto — o grupo discute e REGISTRA: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quem pode ser prejudicado por este sistema?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quais colunas são eticamente suspeitas?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EDF3FD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261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 revelação (notebook 1.7)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4645152"/>
            <a:ext cx="4992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recebe do instrutor o ATRIBUTO SENSÍVEL oficial do seu caso, preenche no notebook e confronta com a própria hipótese: bateu?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975104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O experimento (notebook 1.8 — Decisão 4)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73368" y="2359152"/>
            <a:ext cx="5038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"Então é só remover a coluna!" — Será?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treina uma segunda versão do modelo SEM o atributo sensível e compara as acurácias.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411480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DECEC"/>
          </a:solidFill>
          <a:ln/>
        </p:spPr>
      </p:sp>
      <p:sp>
        <p:nvSpPr>
          <p:cNvPr id="15" name="Text 13"/>
          <p:cNvSpPr/>
          <p:nvPr/>
        </p:nvSpPr>
        <p:spPr>
          <a:xfrm>
            <a:off x="6373368" y="4261104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costuma incomodar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73368" y="4645152"/>
            <a:ext cx="5038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acurácia quase não muda. Se a coluna "não fazia falta", que outras variáveis carregam a mesma informação? Guardem a pergunta — ela abre o Dia 2.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mini-projeto: um relatório de impacto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 condutor dos 3 encontros — apresentação de ~8 minutos no Dia 3.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5315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87452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viés encontramos?  </a:t>
            </a:r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números: representação, erros por grupo, taxa de seleção (ferramentas do Dia 2).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834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82183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74320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etapa ele nasce?  </a:t>
            </a:r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Dados? Rótulo? Variáveis? Modelo? Uso? (catálogo de hoje)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703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69051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611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mitigação tentamos?  </a:t>
            </a:r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Limiares por grupo, remover atributo... (Dia 2)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572000"/>
            <a:ext cx="384048" cy="384048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55919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448056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ela custou?  </a:t>
            </a:r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trade-off: qual métrica/grupo pagou a conta. Honestidade &gt; final feliz.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54406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542787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534924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decisão  </a:t>
            </a:r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posição do grupo no dilema ético do caso — com justificativa.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01000" y="187452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EDF3FD"/>
          </a:solidFill>
          <a:ln/>
        </p:spPr>
      </p:sp>
      <p:sp>
        <p:nvSpPr>
          <p:cNvPr id="21" name="Text 19"/>
          <p:cNvSpPr/>
          <p:nvPr/>
        </p:nvSpPr>
        <p:spPr>
          <a:xfrm>
            <a:off x="8202168" y="202082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anotar já hoje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02168" y="2404872"/>
            <a:ext cx="320954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 4 decisões que o grupo tomou e por quê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acurácia obtida e o chute da maioria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FP e FN traduzidos para o seu caso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hipótese registrada em 1.6 — e se ela sobreviveu à revelação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Acurácia com × sem o atributo sensível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846320"/>
            <a:ext cx="1554480" cy="1554480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420624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pensar até o próximo encontro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241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 modelo acerta ~85%.</a:t>
            </a:r>
            <a:endParaRPr lang="en-US" sz="4000" dirty="0"/>
          </a:p>
          <a:p>
            <a:pPr indent="0" marL="0">
              <a:buNone/>
            </a:pP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do Dia 2: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 para quem?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51206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2: abrimos o modelo por dentro — representação, erros por grupo, regra dos 80%, e o momento em que consertar uma injustiça cria outra.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2026-10-04T18:45:30Z</dcterms:created>
  <dcterms:modified xsi:type="dcterms:W3CDTF">2026-10-04T18:45:30Z</dcterms:modified>
</cp:coreProperties>
</file>